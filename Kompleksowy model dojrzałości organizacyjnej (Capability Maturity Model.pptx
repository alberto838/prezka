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67" r:id="rId5"/>
    <p:sldId id="260" r:id="rId6"/>
    <p:sldId id="261" r:id="rId7"/>
    <p:sldId id="263" r:id="rId8"/>
    <p:sldId id="264" r:id="rId9"/>
    <p:sldId id="265" r:id="rId10"/>
    <p:sldId id="266" r:id="rId11"/>
    <p:sldId id="259"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5707E24C-C82E-4B86-A5E4-37CFE2FCA45D}" type="datetimeFigureOut">
              <a:rPr lang="pl-PL" smtClean="0"/>
              <a:t>05.11.2023</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8FD8AAEA-18E0-4A87-B8FD-10DB5EAA282C}" type="slidenum">
              <a:rPr lang="pl-PL" smtClean="0"/>
              <a:t>‹N›</a:t>
            </a:fld>
            <a:endParaRPr lang="pl-PL"/>
          </a:p>
        </p:txBody>
      </p:sp>
    </p:spTree>
    <p:extLst>
      <p:ext uri="{BB962C8B-B14F-4D97-AF65-F5344CB8AC3E}">
        <p14:creationId xmlns:p14="http://schemas.microsoft.com/office/powerpoint/2010/main" val="2880386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5707E24C-C82E-4B86-A5E4-37CFE2FCA45D}" type="datetimeFigureOut">
              <a:rPr lang="pl-PL" smtClean="0"/>
              <a:t>05.11.2023</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8FD8AAEA-18E0-4A87-B8FD-10DB5EAA282C}" type="slidenum">
              <a:rPr lang="pl-PL" smtClean="0"/>
              <a:t>‹N›</a:t>
            </a:fld>
            <a:endParaRPr lang="pl-PL"/>
          </a:p>
        </p:txBody>
      </p:sp>
    </p:spTree>
    <p:extLst>
      <p:ext uri="{BB962C8B-B14F-4D97-AF65-F5344CB8AC3E}">
        <p14:creationId xmlns:p14="http://schemas.microsoft.com/office/powerpoint/2010/main" val="4179122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5707E24C-C82E-4B86-A5E4-37CFE2FCA45D}" type="datetimeFigureOut">
              <a:rPr lang="pl-PL" smtClean="0"/>
              <a:t>05.11.2023</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8FD8AAEA-18E0-4A87-B8FD-10DB5EAA282C}" type="slidenum">
              <a:rPr lang="pl-PL" smtClean="0"/>
              <a:t>‹N›</a:t>
            </a:fld>
            <a:endParaRPr lang="pl-PL"/>
          </a:p>
        </p:txBody>
      </p:sp>
    </p:spTree>
    <p:extLst>
      <p:ext uri="{BB962C8B-B14F-4D97-AF65-F5344CB8AC3E}">
        <p14:creationId xmlns:p14="http://schemas.microsoft.com/office/powerpoint/2010/main" val="409001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5707E24C-C82E-4B86-A5E4-37CFE2FCA45D}" type="datetimeFigureOut">
              <a:rPr lang="pl-PL" smtClean="0"/>
              <a:t>05.11.2023</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8FD8AAEA-18E0-4A87-B8FD-10DB5EAA282C}" type="slidenum">
              <a:rPr lang="pl-PL" smtClean="0"/>
              <a:t>‹N›</a:t>
            </a:fld>
            <a:endParaRPr lang="pl-PL"/>
          </a:p>
        </p:txBody>
      </p:sp>
    </p:spTree>
    <p:extLst>
      <p:ext uri="{BB962C8B-B14F-4D97-AF65-F5344CB8AC3E}">
        <p14:creationId xmlns:p14="http://schemas.microsoft.com/office/powerpoint/2010/main" val="346365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5707E24C-C82E-4B86-A5E4-37CFE2FCA45D}" type="datetimeFigureOut">
              <a:rPr lang="pl-PL" smtClean="0"/>
              <a:t>05.11.2023</a:t>
            </a:fld>
            <a:endParaRPr lang="pl-PL"/>
          </a:p>
        </p:txBody>
      </p:sp>
      <p:sp>
        <p:nvSpPr>
          <p:cNvPr id="8" name="Footer Placeholder 7"/>
          <p:cNvSpPr>
            <a:spLocks noGrp="1"/>
          </p:cNvSpPr>
          <p:nvPr>
            <p:ph type="ftr" sz="quarter" idx="11"/>
          </p:nvPr>
        </p:nvSpPr>
        <p:spPr/>
        <p:txBody>
          <a:bodyPr/>
          <a:lstStyle/>
          <a:p>
            <a:endParaRPr lang="pl-PL"/>
          </a:p>
        </p:txBody>
      </p:sp>
      <p:sp>
        <p:nvSpPr>
          <p:cNvPr id="9" name="Slide Number Placeholder 8"/>
          <p:cNvSpPr>
            <a:spLocks noGrp="1"/>
          </p:cNvSpPr>
          <p:nvPr>
            <p:ph type="sldNum" sz="quarter" idx="12"/>
          </p:nvPr>
        </p:nvSpPr>
        <p:spPr/>
        <p:txBody>
          <a:bodyPr/>
          <a:lstStyle/>
          <a:p>
            <a:fld id="{8FD8AAEA-18E0-4A87-B8FD-10DB5EAA282C}" type="slidenum">
              <a:rPr lang="pl-PL" smtClean="0"/>
              <a:t>‹N›</a:t>
            </a:fld>
            <a:endParaRPr lang="pl-PL"/>
          </a:p>
        </p:txBody>
      </p:sp>
    </p:spTree>
    <p:extLst>
      <p:ext uri="{BB962C8B-B14F-4D97-AF65-F5344CB8AC3E}">
        <p14:creationId xmlns:p14="http://schemas.microsoft.com/office/powerpoint/2010/main" val="3559034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5707E24C-C82E-4B86-A5E4-37CFE2FCA45D}" type="datetimeFigureOut">
              <a:rPr lang="pl-PL" smtClean="0"/>
              <a:t>05.11.2023</a:t>
            </a:fld>
            <a:endParaRPr lang="pl-PL"/>
          </a:p>
        </p:txBody>
      </p:sp>
      <p:sp>
        <p:nvSpPr>
          <p:cNvPr id="4" name="Footer Placeholder 3"/>
          <p:cNvSpPr>
            <a:spLocks noGrp="1"/>
          </p:cNvSpPr>
          <p:nvPr>
            <p:ph type="ftr" sz="quarter" idx="11"/>
          </p:nvPr>
        </p:nvSpPr>
        <p:spPr/>
        <p:txBody>
          <a:bodyPr/>
          <a:lstStyle/>
          <a:p>
            <a:endParaRPr lang="pl-PL"/>
          </a:p>
        </p:txBody>
      </p:sp>
      <p:sp>
        <p:nvSpPr>
          <p:cNvPr id="5" name="Slide Number Placeholder 4"/>
          <p:cNvSpPr>
            <a:spLocks noGrp="1"/>
          </p:cNvSpPr>
          <p:nvPr>
            <p:ph type="sldNum" sz="quarter" idx="12"/>
          </p:nvPr>
        </p:nvSpPr>
        <p:spPr/>
        <p:txBody>
          <a:bodyPr/>
          <a:lstStyle/>
          <a:p>
            <a:fld id="{8FD8AAEA-18E0-4A87-B8FD-10DB5EAA282C}" type="slidenum">
              <a:rPr lang="pl-PL" smtClean="0"/>
              <a:t>‹N›</a:t>
            </a:fld>
            <a:endParaRPr lang="pl-PL"/>
          </a:p>
        </p:txBody>
      </p:sp>
    </p:spTree>
    <p:extLst>
      <p:ext uri="{BB962C8B-B14F-4D97-AF65-F5344CB8AC3E}">
        <p14:creationId xmlns:p14="http://schemas.microsoft.com/office/powerpoint/2010/main" val="2904487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07E24C-C82E-4B86-A5E4-37CFE2FCA45D}" type="datetimeFigureOut">
              <a:rPr lang="pl-PL" smtClean="0"/>
              <a:t>05.11.2023</a:t>
            </a:fld>
            <a:endParaRPr lang="pl-PL"/>
          </a:p>
        </p:txBody>
      </p:sp>
      <p:sp>
        <p:nvSpPr>
          <p:cNvPr id="3" name="Footer Placeholder 2"/>
          <p:cNvSpPr>
            <a:spLocks noGrp="1"/>
          </p:cNvSpPr>
          <p:nvPr>
            <p:ph type="ftr" sz="quarter" idx="11"/>
          </p:nvPr>
        </p:nvSpPr>
        <p:spPr/>
        <p:txBody>
          <a:bodyPr/>
          <a:lstStyle/>
          <a:p>
            <a:endParaRPr lang="pl-PL"/>
          </a:p>
        </p:txBody>
      </p:sp>
      <p:sp>
        <p:nvSpPr>
          <p:cNvPr id="4" name="Slide Number Placeholder 3"/>
          <p:cNvSpPr>
            <a:spLocks noGrp="1"/>
          </p:cNvSpPr>
          <p:nvPr>
            <p:ph type="sldNum" sz="quarter" idx="12"/>
          </p:nvPr>
        </p:nvSpPr>
        <p:spPr/>
        <p:txBody>
          <a:bodyPr/>
          <a:lstStyle/>
          <a:p>
            <a:fld id="{8FD8AAEA-18E0-4A87-B8FD-10DB5EAA282C}" type="slidenum">
              <a:rPr lang="pl-PL" smtClean="0"/>
              <a:t>‹N›</a:t>
            </a:fld>
            <a:endParaRPr lang="pl-PL"/>
          </a:p>
        </p:txBody>
      </p:sp>
    </p:spTree>
    <p:extLst>
      <p:ext uri="{BB962C8B-B14F-4D97-AF65-F5344CB8AC3E}">
        <p14:creationId xmlns:p14="http://schemas.microsoft.com/office/powerpoint/2010/main" val="4217801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5707E24C-C82E-4B86-A5E4-37CFE2FCA45D}" type="datetimeFigureOut">
              <a:rPr lang="pl-PL" smtClean="0"/>
              <a:t>05.11.2023</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8FD8AAEA-18E0-4A87-B8FD-10DB5EAA282C}" type="slidenum">
              <a:rPr lang="pl-PL" smtClean="0"/>
              <a:t>‹N›</a:t>
            </a:fld>
            <a:endParaRPr lang="pl-PL"/>
          </a:p>
        </p:txBody>
      </p:sp>
    </p:spTree>
    <p:extLst>
      <p:ext uri="{BB962C8B-B14F-4D97-AF65-F5344CB8AC3E}">
        <p14:creationId xmlns:p14="http://schemas.microsoft.com/office/powerpoint/2010/main" val="1877078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5707E24C-C82E-4B86-A5E4-37CFE2FCA45D}" type="datetimeFigureOut">
              <a:rPr lang="pl-PL" smtClean="0"/>
              <a:t>05.11.2023</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8FD8AAEA-18E0-4A87-B8FD-10DB5EAA282C}" type="slidenum">
              <a:rPr lang="pl-PL" smtClean="0"/>
              <a:t>‹N›</a:t>
            </a:fld>
            <a:endParaRPr lang="pl-PL"/>
          </a:p>
        </p:txBody>
      </p:sp>
    </p:spTree>
    <p:extLst>
      <p:ext uri="{BB962C8B-B14F-4D97-AF65-F5344CB8AC3E}">
        <p14:creationId xmlns:p14="http://schemas.microsoft.com/office/powerpoint/2010/main" val="2532439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5707E24C-C82E-4B86-A5E4-37CFE2FCA45D}" type="datetimeFigureOut">
              <a:rPr lang="pl-PL" smtClean="0"/>
              <a:t>05.11.2023</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8FD8AAEA-18E0-4A87-B8FD-10DB5EAA282C}" type="slidenum">
              <a:rPr lang="pl-PL" smtClean="0"/>
              <a:t>‹N›</a:t>
            </a:fld>
            <a:endParaRPr lang="pl-PL"/>
          </a:p>
        </p:txBody>
      </p:sp>
    </p:spTree>
    <p:extLst>
      <p:ext uri="{BB962C8B-B14F-4D97-AF65-F5344CB8AC3E}">
        <p14:creationId xmlns:p14="http://schemas.microsoft.com/office/powerpoint/2010/main" val="1213190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5707E24C-C82E-4B86-A5E4-37CFE2FCA45D}" type="datetimeFigureOut">
              <a:rPr lang="pl-PL" smtClean="0"/>
              <a:t>05.11.2023</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8FD8AAEA-18E0-4A87-B8FD-10DB5EAA282C}" type="slidenum">
              <a:rPr lang="pl-PL" smtClean="0"/>
              <a:t>‹N›</a:t>
            </a:fld>
            <a:endParaRPr lang="pl-PL"/>
          </a:p>
        </p:txBody>
      </p:sp>
    </p:spTree>
    <p:extLst>
      <p:ext uri="{BB962C8B-B14F-4D97-AF65-F5344CB8AC3E}">
        <p14:creationId xmlns:p14="http://schemas.microsoft.com/office/powerpoint/2010/main" val="1517974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it-IT"/>
              <a:t>Fare clic per modificare lo stile del titolo dello schema</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5707E24C-C82E-4B86-A5E4-37CFE2FCA45D}" type="datetimeFigureOut">
              <a:rPr lang="pl-PL" smtClean="0"/>
              <a:t>05.11.2023</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8FD8AAEA-18E0-4A87-B8FD-10DB5EAA282C}" type="slidenum">
              <a:rPr lang="pl-PL" smtClean="0"/>
              <a:t>‹N›</a:t>
            </a:fld>
            <a:endParaRPr lang="pl-PL"/>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2882079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5707E24C-C82E-4B86-A5E4-37CFE2FCA45D}" type="datetimeFigureOut">
              <a:rPr lang="pl-PL" smtClean="0"/>
              <a:t>05.11.2023</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8FD8AAEA-18E0-4A87-B8FD-10DB5EAA282C}" type="slidenum">
              <a:rPr lang="pl-PL" smtClean="0"/>
              <a:t>‹N›</a:t>
            </a:fld>
            <a:endParaRPr lang="pl-PL"/>
          </a:p>
        </p:txBody>
      </p:sp>
    </p:spTree>
    <p:extLst>
      <p:ext uri="{BB962C8B-B14F-4D97-AF65-F5344CB8AC3E}">
        <p14:creationId xmlns:p14="http://schemas.microsoft.com/office/powerpoint/2010/main" val="33129247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it-IT"/>
              <a:t>Fare clic per modificare lo stile del titolo dello schema</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5707E24C-C82E-4B86-A5E4-37CFE2FCA45D}" type="datetimeFigureOut">
              <a:rPr lang="pl-PL" smtClean="0"/>
              <a:t>05.11.2023</a:t>
            </a:fld>
            <a:endParaRPr lang="pl-PL"/>
          </a:p>
        </p:txBody>
      </p:sp>
      <p:sp>
        <p:nvSpPr>
          <p:cNvPr id="4" name="Footer Placeholder 3"/>
          <p:cNvSpPr>
            <a:spLocks noGrp="1"/>
          </p:cNvSpPr>
          <p:nvPr>
            <p:ph type="ftr" sz="quarter" idx="11"/>
          </p:nvPr>
        </p:nvSpPr>
        <p:spPr/>
        <p:txBody>
          <a:bodyPr/>
          <a:lstStyle/>
          <a:p>
            <a:endParaRPr lang="pl-PL"/>
          </a:p>
        </p:txBody>
      </p:sp>
      <p:sp>
        <p:nvSpPr>
          <p:cNvPr id="5" name="Slide Number Placeholder 4"/>
          <p:cNvSpPr>
            <a:spLocks noGrp="1"/>
          </p:cNvSpPr>
          <p:nvPr>
            <p:ph type="sldNum" sz="quarter" idx="12"/>
          </p:nvPr>
        </p:nvSpPr>
        <p:spPr/>
        <p:txBody>
          <a:bodyPr/>
          <a:lstStyle/>
          <a:p>
            <a:fld id="{8FD8AAEA-18E0-4A87-B8FD-10DB5EAA282C}" type="slidenum">
              <a:rPr lang="pl-PL" smtClean="0"/>
              <a:t>‹N›</a:t>
            </a:fld>
            <a:endParaRPr lang="pl-PL"/>
          </a:p>
        </p:txBody>
      </p:sp>
    </p:spTree>
    <p:extLst>
      <p:ext uri="{BB962C8B-B14F-4D97-AF65-F5344CB8AC3E}">
        <p14:creationId xmlns:p14="http://schemas.microsoft.com/office/powerpoint/2010/main" val="36732062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it-IT"/>
              <a:t>Fare clic per modificare lo stile del titolo dello schema</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5707E24C-C82E-4B86-A5E4-37CFE2FCA45D}" type="datetimeFigureOut">
              <a:rPr lang="pl-PL" smtClean="0"/>
              <a:t>05.11.2023</a:t>
            </a:fld>
            <a:endParaRPr lang="pl-PL"/>
          </a:p>
        </p:txBody>
      </p:sp>
      <p:sp>
        <p:nvSpPr>
          <p:cNvPr id="4" name="Footer Placeholder 3"/>
          <p:cNvSpPr>
            <a:spLocks noGrp="1"/>
          </p:cNvSpPr>
          <p:nvPr>
            <p:ph type="ftr" sz="quarter" idx="11"/>
          </p:nvPr>
        </p:nvSpPr>
        <p:spPr/>
        <p:txBody>
          <a:bodyPr/>
          <a:lstStyle/>
          <a:p>
            <a:endParaRPr lang="pl-PL"/>
          </a:p>
        </p:txBody>
      </p:sp>
      <p:sp>
        <p:nvSpPr>
          <p:cNvPr id="5" name="Slide Number Placeholder 4"/>
          <p:cNvSpPr>
            <a:spLocks noGrp="1"/>
          </p:cNvSpPr>
          <p:nvPr>
            <p:ph type="sldNum" sz="quarter" idx="12"/>
          </p:nvPr>
        </p:nvSpPr>
        <p:spPr/>
        <p:txBody>
          <a:bodyPr/>
          <a:lstStyle/>
          <a:p>
            <a:fld id="{8FD8AAEA-18E0-4A87-B8FD-10DB5EAA282C}" type="slidenum">
              <a:rPr lang="pl-PL" smtClean="0"/>
              <a:t>‹N›</a:t>
            </a:fld>
            <a:endParaRPr lang="pl-PL"/>
          </a:p>
        </p:txBody>
      </p:sp>
    </p:spTree>
    <p:extLst>
      <p:ext uri="{BB962C8B-B14F-4D97-AF65-F5344CB8AC3E}">
        <p14:creationId xmlns:p14="http://schemas.microsoft.com/office/powerpoint/2010/main" val="31713910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5707E24C-C82E-4B86-A5E4-37CFE2FCA45D}" type="datetimeFigureOut">
              <a:rPr lang="pl-PL" smtClean="0"/>
              <a:t>05.11.2023</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8FD8AAEA-18E0-4A87-B8FD-10DB5EAA282C}" type="slidenum">
              <a:rPr lang="pl-PL" smtClean="0"/>
              <a:t>‹N›</a:t>
            </a:fld>
            <a:endParaRPr lang="pl-PL"/>
          </a:p>
        </p:txBody>
      </p:sp>
    </p:spTree>
    <p:extLst>
      <p:ext uri="{BB962C8B-B14F-4D97-AF65-F5344CB8AC3E}">
        <p14:creationId xmlns:p14="http://schemas.microsoft.com/office/powerpoint/2010/main" val="12839346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5707E24C-C82E-4B86-A5E4-37CFE2FCA45D}" type="datetimeFigureOut">
              <a:rPr lang="pl-PL" smtClean="0"/>
              <a:t>05.11.2023</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8FD8AAEA-18E0-4A87-B8FD-10DB5EAA282C}" type="slidenum">
              <a:rPr lang="pl-PL" smtClean="0"/>
              <a:t>‹N›</a:t>
            </a:fld>
            <a:endParaRPr lang="pl-PL"/>
          </a:p>
        </p:txBody>
      </p:sp>
    </p:spTree>
    <p:extLst>
      <p:ext uri="{BB962C8B-B14F-4D97-AF65-F5344CB8AC3E}">
        <p14:creationId xmlns:p14="http://schemas.microsoft.com/office/powerpoint/2010/main" val="4267173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707E24C-C82E-4B86-A5E4-37CFE2FCA45D}" type="datetimeFigureOut">
              <a:rPr lang="pl-PL" smtClean="0"/>
              <a:t>05.11.2023</a:t>
            </a:fld>
            <a:endParaRPr lang="pl-PL"/>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pl-PL"/>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FD8AAEA-18E0-4A87-B8FD-10DB5EAA282C}" type="slidenum">
              <a:rPr lang="pl-PL" smtClean="0"/>
              <a:t>‹N›</a:t>
            </a:fld>
            <a:endParaRPr lang="pl-PL"/>
          </a:p>
        </p:txBody>
      </p:sp>
    </p:spTree>
    <p:extLst>
      <p:ext uri="{BB962C8B-B14F-4D97-AF65-F5344CB8AC3E}">
        <p14:creationId xmlns:p14="http://schemas.microsoft.com/office/powerpoint/2010/main" val="1695056782"/>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AEC22AC-FECB-9541-ADFD-1FB7F73BDB21}"/>
              </a:ext>
            </a:extLst>
          </p:cNvPr>
          <p:cNvSpPr>
            <a:spLocks noGrp="1"/>
          </p:cNvSpPr>
          <p:nvPr>
            <p:ph type="ctrTitle"/>
          </p:nvPr>
        </p:nvSpPr>
        <p:spPr/>
        <p:txBody>
          <a:bodyPr>
            <a:normAutofit/>
          </a:bodyPr>
          <a:lstStyle/>
          <a:p>
            <a:r>
              <a:rPr lang="pl-PL" sz="3600" i="0" dirty="0">
                <a:effectLst/>
                <a:latin typeface="Arial" panose="020B0604020202020204" pitchFamily="34" charset="0"/>
              </a:rPr>
              <a:t>Kompleksowy model dojrzałości organizacyjnej</a:t>
            </a:r>
            <a:r>
              <a:rPr lang="pl-PL" sz="3600" dirty="0">
                <a:effectLst/>
                <a:latin typeface="Arial" panose="020B0604020202020204" pitchFamily="34" charset="0"/>
              </a:rPr>
              <a:t> </a:t>
            </a:r>
            <a:r>
              <a:rPr lang="pl-PL" sz="3600" i="0" dirty="0">
                <a:effectLst/>
                <a:latin typeface="Arial" panose="020B0604020202020204" pitchFamily="34" charset="0"/>
              </a:rPr>
              <a:t>(Capability Maturity Model Integration – CMMI)</a:t>
            </a:r>
            <a:endParaRPr lang="pl-PL" sz="3600" dirty="0"/>
          </a:p>
        </p:txBody>
      </p:sp>
      <p:sp>
        <p:nvSpPr>
          <p:cNvPr id="3" name="Sottotitolo 2">
            <a:extLst>
              <a:ext uri="{FF2B5EF4-FFF2-40B4-BE49-F238E27FC236}">
                <a16:creationId xmlns:a16="http://schemas.microsoft.com/office/drawing/2014/main" id="{B1CCB301-704C-CC7A-C560-95A6745C41ED}"/>
              </a:ext>
            </a:extLst>
          </p:cNvPr>
          <p:cNvSpPr>
            <a:spLocks noGrp="1"/>
          </p:cNvSpPr>
          <p:nvPr>
            <p:ph type="subTitle" idx="1"/>
          </p:nvPr>
        </p:nvSpPr>
        <p:spPr/>
        <p:txBody>
          <a:bodyPr/>
          <a:lstStyle/>
          <a:p>
            <a:endParaRPr lang="pl-PL" dirty="0"/>
          </a:p>
        </p:txBody>
      </p:sp>
    </p:spTree>
    <p:extLst>
      <p:ext uri="{BB962C8B-B14F-4D97-AF65-F5344CB8AC3E}">
        <p14:creationId xmlns:p14="http://schemas.microsoft.com/office/powerpoint/2010/main" val="3206311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62C1937-83AC-03AF-4D9C-89861800610B}"/>
              </a:ext>
            </a:extLst>
          </p:cNvPr>
          <p:cNvSpPr>
            <a:spLocks noGrp="1"/>
          </p:cNvSpPr>
          <p:nvPr>
            <p:ph type="title"/>
          </p:nvPr>
        </p:nvSpPr>
        <p:spPr/>
        <p:txBody>
          <a:bodyPr/>
          <a:lstStyle/>
          <a:p>
            <a:r>
              <a:rPr lang="pl-PL" dirty="0"/>
              <a:t>Definicja</a:t>
            </a:r>
          </a:p>
        </p:txBody>
      </p:sp>
      <p:sp>
        <p:nvSpPr>
          <p:cNvPr id="3" name="Segnaposto contenuto 2">
            <a:extLst>
              <a:ext uri="{FF2B5EF4-FFF2-40B4-BE49-F238E27FC236}">
                <a16:creationId xmlns:a16="http://schemas.microsoft.com/office/drawing/2014/main" id="{CF424F3C-0AB6-D2B9-EEDF-8E2FDF6BDAB0}"/>
              </a:ext>
            </a:extLst>
          </p:cNvPr>
          <p:cNvSpPr>
            <a:spLocks noGrp="1"/>
          </p:cNvSpPr>
          <p:nvPr>
            <p:ph idx="1"/>
          </p:nvPr>
        </p:nvSpPr>
        <p:spPr/>
        <p:txBody>
          <a:bodyPr/>
          <a:lstStyle/>
          <a:p>
            <a:pPr marL="36900" indent="0">
              <a:buNone/>
            </a:pPr>
            <a:r>
              <a:rPr lang="pl-PL" dirty="0"/>
              <a:t>Model szkoleniowy i oceniający doskonalenie na poziomie procesu. Jest wymagany przy wielu kontraktach rządowych Stanów Zjednoczonych, zwłaszcza w zakresie rozwoju oprogramowania. Carnegie Mellon University (CMU), na którym CMMI zostało opracowane, twierdzi, że może być używany do kierowania doskonaleniem procesów w ramach projektu, oddziału lub całej organizacji. CMMI definiuje następujące poziomy dojrzałości dla procesów: początkowy, zarządzany, zdefiniowany, zarządzany ilościowo i optymalizujący. CMMI jest zarejestrowany w Urzędzie Patentów i Znaków Towarowych USA przez CMU.</a:t>
            </a:r>
          </a:p>
        </p:txBody>
      </p:sp>
    </p:spTree>
    <p:extLst>
      <p:ext uri="{BB962C8B-B14F-4D97-AF65-F5344CB8AC3E}">
        <p14:creationId xmlns:p14="http://schemas.microsoft.com/office/powerpoint/2010/main" val="622274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8ACD287-F181-5F0A-716C-69D1EC268597}"/>
              </a:ext>
            </a:extLst>
          </p:cNvPr>
          <p:cNvSpPr>
            <a:spLocks noGrp="1"/>
          </p:cNvSpPr>
          <p:nvPr>
            <p:ph type="title"/>
          </p:nvPr>
        </p:nvSpPr>
        <p:spPr/>
        <p:txBody>
          <a:bodyPr/>
          <a:lstStyle/>
          <a:p>
            <a:r>
              <a:rPr lang="pl-PL" dirty="0"/>
              <a:t>Przegląd</a:t>
            </a:r>
          </a:p>
        </p:txBody>
      </p:sp>
      <p:sp>
        <p:nvSpPr>
          <p:cNvPr id="3" name="Segnaposto contenuto 2">
            <a:extLst>
              <a:ext uri="{FF2B5EF4-FFF2-40B4-BE49-F238E27FC236}">
                <a16:creationId xmlns:a16="http://schemas.microsoft.com/office/drawing/2014/main" id="{801CC757-08D9-36F2-FD85-CCC6BB2C215C}"/>
              </a:ext>
            </a:extLst>
          </p:cNvPr>
          <p:cNvSpPr>
            <a:spLocks noGrp="1"/>
          </p:cNvSpPr>
          <p:nvPr>
            <p:ph idx="1"/>
          </p:nvPr>
        </p:nvSpPr>
        <p:spPr/>
        <p:txBody>
          <a:bodyPr>
            <a:normAutofit/>
          </a:bodyPr>
          <a:lstStyle/>
          <a:p>
            <a:pPr marL="36900" indent="0">
              <a:buNone/>
            </a:pPr>
            <a:r>
              <a:rPr lang="pl-PL" dirty="0"/>
              <a:t>Pierwotnie CMMI definiował trzy obszary:</a:t>
            </a:r>
          </a:p>
          <a:p>
            <a:pPr marL="494100" indent="-457200">
              <a:buFont typeface="+mj-lt"/>
              <a:buAutoNum type="arabicPeriod"/>
            </a:pPr>
            <a:r>
              <a:rPr lang="pl-PL" dirty="0"/>
              <a:t>Rozwój produktów i usług – CMMI for Development (CMMI-DEV),</a:t>
            </a:r>
          </a:p>
          <a:p>
            <a:pPr marL="494100" indent="-457200">
              <a:buFont typeface="+mj-lt"/>
              <a:buAutoNum type="arabicPeriod"/>
            </a:pPr>
            <a:r>
              <a:rPr lang="pl-PL" dirty="0"/>
              <a:t>Ustanawiania usług, zarządzanie – CMMI for Services (CMMI-SVC),</a:t>
            </a:r>
          </a:p>
          <a:p>
            <a:pPr marL="494100" indent="-457200">
              <a:buFont typeface="+mj-lt"/>
              <a:buAutoNum type="arabicPeriod"/>
            </a:pPr>
            <a:r>
              <a:rPr lang="pl-PL" dirty="0"/>
              <a:t>Pozyskiwanie produktów i usług – CMMI for Acquisition (CMMI-ACQ).</a:t>
            </a:r>
          </a:p>
          <a:p>
            <a:pPr marL="494100" indent="-457200">
              <a:buFont typeface="+mj-lt"/>
              <a:buAutoNum type="arabicPeriod"/>
            </a:pPr>
            <a:endParaRPr lang="pl-PL" dirty="0"/>
          </a:p>
          <a:p>
            <a:pPr marL="36900" indent="0">
              <a:buNone/>
            </a:pPr>
            <a:r>
              <a:rPr lang="pl-PL" dirty="0"/>
              <a:t>W wersji 2.0 te trzy obszary (które wcześniej miały osobny model) zostały połączone w jeden model. Model CMMI zawiera wskazówki dotyczące opracowywania lub ulepszania procesów, które spełniają cele biznesowe organizacji. Może być również wykorzystywany jako podstawa oceny dojrzałości organizacji procesowej.</a:t>
            </a:r>
          </a:p>
        </p:txBody>
      </p:sp>
    </p:spTree>
    <p:extLst>
      <p:ext uri="{BB962C8B-B14F-4D97-AF65-F5344CB8AC3E}">
        <p14:creationId xmlns:p14="http://schemas.microsoft.com/office/powerpoint/2010/main" val="72907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474B09E-604D-AB3E-5E48-986962EA6361}"/>
              </a:ext>
            </a:extLst>
          </p:cNvPr>
          <p:cNvSpPr>
            <a:spLocks noGrp="1"/>
          </p:cNvSpPr>
          <p:nvPr>
            <p:ph type="title"/>
          </p:nvPr>
        </p:nvSpPr>
        <p:spPr/>
        <p:txBody>
          <a:bodyPr/>
          <a:lstStyle/>
          <a:p>
            <a:r>
              <a:rPr lang="pl-PL" dirty="0"/>
              <a:t>Obszary</a:t>
            </a:r>
          </a:p>
        </p:txBody>
      </p:sp>
      <p:sp>
        <p:nvSpPr>
          <p:cNvPr id="3" name="Segnaposto contenuto 2">
            <a:extLst>
              <a:ext uri="{FF2B5EF4-FFF2-40B4-BE49-F238E27FC236}">
                <a16:creationId xmlns:a16="http://schemas.microsoft.com/office/drawing/2014/main" id="{60D14E5C-5C05-91A9-346B-14CA554963CE}"/>
              </a:ext>
            </a:extLst>
          </p:cNvPr>
          <p:cNvSpPr>
            <a:spLocks noGrp="1"/>
          </p:cNvSpPr>
          <p:nvPr>
            <p:ph idx="1"/>
          </p:nvPr>
        </p:nvSpPr>
        <p:spPr/>
        <p:txBody>
          <a:bodyPr>
            <a:normAutofit fontScale="92500" lnSpcReduction="10000"/>
          </a:bodyPr>
          <a:lstStyle/>
          <a:p>
            <a:pPr marL="36900" indent="0">
              <a:buNone/>
            </a:pPr>
            <a:r>
              <a:rPr lang="pl-PL" dirty="0"/>
              <a:t>1) CMMI for Development – zawiera zestaw wytycznych z zakresu rozwoju nowych produktów i usług. Głównym zastosowaniem tego modelu jest poprawa skuteczności, efektywności oraz jakości prowadzonych prac badawczo-rozwojowych z uwzględnieniem potrzeb i oczekiwań końcowego odbiorcy.</a:t>
            </a:r>
          </a:p>
          <a:p>
            <a:pPr marL="36900" indent="0">
              <a:buNone/>
            </a:pPr>
            <a:r>
              <a:rPr lang="pl-PL" dirty="0"/>
              <a:t>2) CMMI for Acquisition – obejmuje najlepsze praktyki dotyczące sposobu doskonalenia relacji z dostawcami. Model ten skupia się przede wszystkim na usprawnieniu procesów łańcucha dostaw w taki sposób, aby nabywane produkty i usługi spełniały wymagania klientów i użytkowników końcowych. Powyższy cel zostaje osiągnięty poprzez doskonalenie procesów w organizacji będącej nabywcą.</a:t>
            </a:r>
          </a:p>
          <a:p>
            <a:pPr marL="36900" indent="0">
              <a:buNone/>
            </a:pPr>
            <a:r>
              <a:rPr lang="pl-PL" dirty="0"/>
              <a:t>3) CMMI for Services – jest dedykowany dla usługodawców. Najlepsze praktyki zawarte w tym modelu skupiają się na doskonaleniu procesów odpowiedzialnych za dostarczanie usług klientom. Powyższe wytyczne mogą być użyte zarówno jako modelowe rozwiązanie dla budowy systemu dostarczania usług lub w przypadku zaawansowanych organizacji, mogą służyć jego rozwojowi i doskonaleniu.</a:t>
            </a:r>
          </a:p>
        </p:txBody>
      </p:sp>
    </p:spTree>
    <p:extLst>
      <p:ext uri="{BB962C8B-B14F-4D97-AF65-F5344CB8AC3E}">
        <p14:creationId xmlns:p14="http://schemas.microsoft.com/office/powerpoint/2010/main" val="900923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E61B8029-989A-5A4C-8931-B7591A9857EE}"/>
              </a:ext>
            </a:extLst>
          </p:cNvPr>
          <p:cNvSpPr/>
          <p:nvPr/>
        </p:nvSpPr>
        <p:spPr>
          <a:xfrm>
            <a:off x="756249" y="241538"/>
            <a:ext cx="10679501" cy="637492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7" name="Segnaposto contenuto 6" descr="Immagine che contiene testo, schermata, Carattere&#10;&#10;Descrizione generata automaticamente">
            <a:extLst>
              <a:ext uri="{FF2B5EF4-FFF2-40B4-BE49-F238E27FC236}">
                <a16:creationId xmlns:a16="http://schemas.microsoft.com/office/drawing/2014/main" id="{BB0F617A-001F-59A3-D81E-AB1192FEE8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47489" y="392615"/>
            <a:ext cx="8097020" cy="6072765"/>
          </a:xfrm>
        </p:spPr>
      </p:pic>
    </p:spTree>
    <p:extLst>
      <p:ext uri="{BB962C8B-B14F-4D97-AF65-F5344CB8AC3E}">
        <p14:creationId xmlns:p14="http://schemas.microsoft.com/office/powerpoint/2010/main" val="3276977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C917B90-3A31-B906-366D-70393531E291}"/>
              </a:ext>
            </a:extLst>
          </p:cNvPr>
          <p:cNvSpPr>
            <a:spLocks noGrp="1"/>
          </p:cNvSpPr>
          <p:nvPr>
            <p:ph type="title"/>
          </p:nvPr>
        </p:nvSpPr>
        <p:spPr/>
        <p:txBody>
          <a:bodyPr/>
          <a:lstStyle/>
          <a:p>
            <a:r>
              <a:rPr lang="pl-PL" dirty="0"/>
              <a:t>Tematy CMMI</a:t>
            </a:r>
          </a:p>
        </p:txBody>
      </p:sp>
      <p:sp>
        <p:nvSpPr>
          <p:cNvPr id="3" name="Segnaposto contenuto 2">
            <a:extLst>
              <a:ext uri="{FF2B5EF4-FFF2-40B4-BE49-F238E27FC236}">
                <a16:creationId xmlns:a16="http://schemas.microsoft.com/office/drawing/2014/main" id="{0E07BD55-958F-8F84-3D35-9BDA9432303F}"/>
              </a:ext>
            </a:extLst>
          </p:cNvPr>
          <p:cNvSpPr>
            <a:spLocks noGrp="1"/>
          </p:cNvSpPr>
          <p:nvPr>
            <p:ph idx="1"/>
          </p:nvPr>
        </p:nvSpPr>
        <p:spPr/>
        <p:txBody>
          <a:bodyPr/>
          <a:lstStyle/>
          <a:p>
            <a:pPr marL="36900" indent="0">
              <a:buNone/>
            </a:pPr>
            <a:r>
              <a:rPr lang="pl-PL" sz="2400" b="1" dirty="0"/>
              <a:t>Reprezentacja</a:t>
            </a:r>
          </a:p>
          <a:p>
            <a:pPr marL="36900" indent="0">
              <a:buNone/>
            </a:pPr>
            <a:r>
              <a:rPr lang="pl-PL" dirty="0"/>
              <a:t>W wersji 1.3 CMMI istniał w dwóch reprezentacjach: ciągłej i etapowej. Reprezentacja ciągła ma na celu umożliwienie użytkownikowi skupienia się na konkretnych procesach, które są uważane za ważne dla bezpośrednich celów biznesowych organizacji lub tych, którym organizacja przypisuje wysoki stopień ryzyka. Reprezentacja etapowa ma na celu zapewnienie standardowej sekwencji ulepszeń i może służyć jako podstawa do porównania dojrzałości różnych projektów i organizacji. W wersji 2.0 powyższy rozdział reprezentacji został zniesiony i obecnie istnieje tylko jeden spójny model</a:t>
            </a:r>
          </a:p>
        </p:txBody>
      </p:sp>
    </p:spTree>
    <p:extLst>
      <p:ext uri="{BB962C8B-B14F-4D97-AF65-F5344CB8AC3E}">
        <p14:creationId xmlns:p14="http://schemas.microsoft.com/office/powerpoint/2010/main" val="1587623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C917B90-3A31-B906-366D-70393531E291}"/>
              </a:ext>
            </a:extLst>
          </p:cNvPr>
          <p:cNvSpPr>
            <a:spLocks noGrp="1"/>
          </p:cNvSpPr>
          <p:nvPr>
            <p:ph type="title"/>
          </p:nvPr>
        </p:nvSpPr>
        <p:spPr/>
        <p:txBody>
          <a:bodyPr/>
          <a:lstStyle/>
          <a:p>
            <a:r>
              <a:rPr lang="pl-PL" dirty="0"/>
              <a:t>Tematy CMMI</a:t>
            </a:r>
          </a:p>
        </p:txBody>
      </p:sp>
      <p:sp>
        <p:nvSpPr>
          <p:cNvPr id="3" name="Segnaposto contenuto 2">
            <a:extLst>
              <a:ext uri="{FF2B5EF4-FFF2-40B4-BE49-F238E27FC236}">
                <a16:creationId xmlns:a16="http://schemas.microsoft.com/office/drawing/2014/main" id="{0E07BD55-958F-8F84-3D35-9BDA9432303F}"/>
              </a:ext>
            </a:extLst>
          </p:cNvPr>
          <p:cNvSpPr>
            <a:spLocks noGrp="1"/>
          </p:cNvSpPr>
          <p:nvPr>
            <p:ph idx="1"/>
          </p:nvPr>
        </p:nvSpPr>
        <p:spPr/>
        <p:txBody>
          <a:bodyPr/>
          <a:lstStyle/>
          <a:p>
            <a:pPr marL="36900" indent="0">
              <a:buNone/>
            </a:pPr>
            <a:r>
              <a:rPr lang="pl-PL" sz="2400" b="1" dirty="0"/>
              <a:t>Struktura modelu (v1.3)</a:t>
            </a:r>
          </a:p>
          <a:p>
            <a:pPr marL="36900" indent="0">
              <a:buNone/>
            </a:pPr>
            <a:r>
              <a:rPr lang="pl-PL" dirty="0"/>
              <a:t>W zależności od wykorzystywanych obszarów zainteresowania (pozyskiwanie, usługi, rozwój) zawarte w nim obszary procesowe będą się różnić. Obszary procesowe to obszary, które zostaną objęte procesami organizacji. W poniższej tabeli wymieniono siedemnaście głównych obszarów procesu CMMI, które są obecne dla wszystkich interesujących obszarów CMMI w wersji 1.3.</a:t>
            </a:r>
          </a:p>
        </p:txBody>
      </p:sp>
    </p:spTree>
    <p:extLst>
      <p:ext uri="{BB962C8B-B14F-4D97-AF65-F5344CB8AC3E}">
        <p14:creationId xmlns:p14="http://schemas.microsoft.com/office/powerpoint/2010/main" val="1135104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64E1FDE3-815D-63DD-0166-F6DFF6383719}"/>
              </a:ext>
            </a:extLst>
          </p:cNvPr>
          <p:cNvSpPr>
            <a:spLocks noGrp="1"/>
          </p:cNvSpPr>
          <p:nvPr>
            <p:ph idx="1"/>
          </p:nvPr>
        </p:nvSpPr>
        <p:spPr>
          <a:xfrm>
            <a:off x="7287491" y="909286"/>
            <a:ext cx="4247920" cy="5039427"/>
          </a:xfrm>
        </p:spPr>
        <p:txBody>
          <a:bodyPr>
            <a:normAutofit/>
          </a:bodyPr>
          <a:lstStyle/>
          <a:p>
            <a:pPr marL="36900" indent="0">
              <a:buNone/>
            </a:pPr>
            <a:r>
              <a:rPr lang="pl-PL" sz="2400" b="1" dirty="0"/>
              <a:t>Poziomy dojrzałości:</a:t>
            </a:r>
          </a:p>
          <a:p>
            <a:pPr marL="36900" indent="0">
              <a:buNone/>
            </a:pPr>
            <a:r>
              <a:rPr lang="pl-PL" dirty="0"/>
              <a:t>Poziom 2 – Zarządzany</a:t>
            </a:r>
          </a:p>
          <a:p>
            <a:pPr marL="36900" indent="0">
              <a:buNone/>
            </a:pPr>
            <a:r>
              <a:rPr lang="pl-PL" dirty="0"/>
              <a:t>Poziom 3 – Zdefiniowany</a:t>
            </a:r>
          </a:p>
          <a:p>
            <a:pPr marL="36900" indent="0">
              <a:buNone/>
            </a:pPr>
            <a:r>
              <a:rPr lang="pl-PL" dirty="0"/>
              <a:t>Poziom 4 – Zarządzanie ilościowe</a:t>
            </a:r>
          </a:p>
          <a:p>
            <a:pPr marL="36900" indent="0">
              <a:buNone/>
            </a:pPr>
            <a:r>
              <a:rPr lang="pl-PL" dirty="0"/>
              <a:t>Poziom 5 – Optymalizacja</a:t>
            </a:r>
          </a:p>
          <a:p>
            <a:pPr marL="36900" indent="0">
              <a:buNone/>
            </a:pPr>
            <a:endParaRPr lang="pl-PL" dirty="0"/>
          </a:p>
        </p:txBody>
      </p:sp>
      <p:pic>
        <p:nvPicPr>
          <p:cNvPr id="8" name="Immagine 7">
            <a:extLst>
              <a:ext uri="{FF2B5EF4-FFF2-40B4-BE49-F238E27FC236}">
                <a16:creationId xmlns:a16="http://schemas.microsoft.com/office/drawing/2014/main" id="{2EB59DE2-AF62-84C0-A56E-5D87A1A56F96}"/>
              </a:ext>
            </a:extLst>
          </p:cNvPr>
          <p:cNvPicPr>
            <a:picLocks noChangeAspect="1"/>
          </p:cNvPicPr>
          <p:nvPr/>
        </p:nvPicPr>
        <p:blipFill>
          <a:blip r:embed="rId2"/>
          <a:stretch>
            <a:fillRect/>
          </a:stretch>
        </p:blipFill>
        <p:spPr>
          <a:xfrm>
            <a:off x="782925" y="909286"/>
            <a:ext cx="6211167" cy="5039428"/>
          </a:xfrm>
          <a:prstGeom prst="rect">
            <a:avLst/>
          </a:prstGeom>
        </p:spPr>
      </p:pic>
    </p:spTree>
    <p:extLst>
      <p:ext uri="{BB962C8B-B14F-4D97-AF65-F5344CB8AC3E}">
        <p14:creationId xmlns:p14="http://schemas.microsoft.com/office/powerpoint/2010/main" val="1359881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D40955-1A0D-9FED-269C-E1E7A129538F}"/>
              </a:ext>
            </a:extLst>
          </p:cNvPr>
          <p:cNvSpPr>
            <a:spLocks noGrp="1"/>
          </p:cNvSpPr>
          <p:nvPr>
            <p:ph type="title"/>
          </p:nvPr>
        </p:nvSpPr>
        <p:spPr/>
        <p:txBody>
          <a:bodyPr/>
          <a:lstStyle/>
          <a:p>
            <a:r>
              <a:rPr lang="pl-PL" dirty="0"/>
              <a:t>Model v2.0</a:t>
            </a:r>
          </a:p>
        </p:txBody>
      </p:sp>
      <p:sp>
        <p:nvSpPr>
          <p:cNvPr id="3" name="Segnaposto contenuto 2">
            <a:extLst>
              <a:ext uri="{FF2B5EF4-FFF2-40B4-BE49-F238E27FC236}">
                <a16:creationId xmlns:a16="http://schemas.microsoft.com/office/drawing/2014/main" id="{31F8EC45-AA94-769B-8CF4-74C6F2A9973F}"/>
              </a:ext>
            </a:extLst>
          </p:cNvPr>
          <p:cNvSpPr>
            <a:spLocks noGrp="1"/>
          </p:cNvSpPr>
          <p:nvPr>
            <p:ph idx="1"/>
          </p:nvPr>
        </p:nvSpPr>
        <p:spPr/>
        <p:txBody>
          <a:bodyPr>
            <a:normAutofit fontScale="77500" lnSpcReduction="20000"/>
          </a:bodyPr>
          <a:lstStyle/>
          <a:p>
            <a:pPr marL="36900" indent="0">
              <a:buNone/>
            </a:pPr>
            <a:r>
              <a:rPr lang="pl-PL" dirty="0"/>
              <a:t>W wersji 2.0 DEV, ACQ i SVC zostały połączone w jeden model, w którym każdy obszar procesu potencjalnie ma specyficzne odniesienie do jednego lub więcej z tych trzech aspektów. Próbując nadążyć za branżą, model zawiera również wyraźne odniesienie do aspektów zwinnych w niektórych obszarach procesu.</a:t>
            </a:r>
          </a:p>
          <a:p>
            <a:pPr marL="36900" indent="0">
              <a:buNone/>
            </a:pPr>
            <a:r>
              <a:rPr lang="pl-PL" dirty="0"/>
              <a:t>Niektóre kluczowe różnice między modelami v1.3 i v2.0:</a:t>
            </a:r>
          </a:p>
          <a:p>
            <a:pPr marL="494100" indent="-457200">
              <a:buFont typeface="+mj-lt"/>
              <a:buAutoNum type="arabicPeriod"/>
            </a:pPr>
            <a:r>
              <a:rPr lang="pl-PL" dirty="0"/>
              <a:t>„Obszary procesu” zostały zastąpione przez „Obszary ćwiczeń (PA)”. Ten ostatni jest uporządkowany według poziomów, a nie „celów szczegółowych”.</a:t>
            </a:r>
          </a:p>
          <a:p>
            <a:pPr marL="494100" indent="-457200">
              <a:buFont typeface="+mj-lt"/>
              <a:buAutoNum type="arabicPeriod"/>
            </a:pPr>
            <a:r>
              <a:rPr lang="pl-PL" dirty="0"/>
              <a:t>Każdy PA składa się z sekcji „podstawowej” (tj. ogólnego i wolnego od terminologii opisu) oraz „specyficznego kontekstu” (tj. opisu z perspektywy Agile/Scruma, rozwoju, usług itp.).</a:t>
            </a:r>
          </a:p>
          <a:p>
            <a:pPr marL="494100" indent="-457200">
              <a:buFont typeface="+mj-lt"/>
              <a:buAutoNum type="arabicPeriod"/>
            </a:pPr>
            <a:r>
              <a:rPr lang="pl-PL" dirty="0"/>
              <a:t>Ponieważ wszystkie praktyki są teraz obowiązkowe do przestrzegania, sekcja „Oczekiwane” została usunięta.</a:t>
            </a:r>
          </a:p>
          <a:p>
            <a:pPr marL="494100" indent="-457200">
              <a:buFont typeface="+mj-lt"/>
              <a:buAutoNum type="arabicPeriod"/>
            </a:pPr>
            <a:r>
              <a:rPr lang="pl-PL" dirty="0"/>
              <a:t>„Praktyki ogólne” zostały umieszczone w nowym obszarze o nazwie „Infrastruktura zarządzania i wdrażania”, podczas gdy „praktyki szczególne” zostały pominięte.</a:t>
            </a:r>
          </a:p>
          <a:p>
            <a:pPr marL="494100" indent="-457200">
              <a:buFont typeface="+mj-lt"/>
              <a:buAutoNum type="arabicPeriod"/>
            </a:pPr>
            <a:r>
              <a:rPr lang="pl-PL" dirty="0"/>
              <a:t>Nacisk na zapewnienie wdrażania PA i praktykowanie ich w sposób ciągły, aż staną się „przyzwyczajeniem”.</a:t>
            </a:r>
          </a:p>
          <a:p>
            <a:pPr marL="494100" indent="-457200">
              <a:buFont typeface="+mj-lt"/>
              <a:buAutoNum type="arabicPeriod"/>
            </a:pPr>
            <a:r>
              <a:rPr lang="pl-PL" dirty="0"/>
              <a:t>Wszystkie poziomy dojrzałości koncentrują się na słowie kluczowym „wydajność”.</a:t>
            </a:r>
          </a:p>
          <a:p>
            <a:pPr marL="494100" indent="-457200">
              <a:buFont typeface="+mj-lt"/>
              <a:buAutoNum type="arabicPeriod"/>
            </a:pPr>
            <a:r>
              <a:rPr lang="pl-PL" dirty="0"/>
              <a:t>Uwzględniono dwa i pięć opcjonalnych PA z zakresu „Bezpieczeństwo” i „Bezpieczeństwo”.</a:t>
            </a:r>
          </a:p>
        </p:txBody>
      </p:sp>
    </p:spTree>
    <p:extLst>
      <p:ext uri="{BB962C8B-B14F-4D97-AF65-F5344CB8AC3E}">
        <p14:creationId xmlns:p14="http://schemas.microsoft.com/office/powerpoint/2010/main" val="2575875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F79FD78-40EC-B701-109E-4373BA4ADD45}"/>
              </a:ext>
            </a:extLst>
          </p:cNvPr>
          <p:cNvSpPr>
            <a:spLocks noGrp="1"/>
          </p:cNvSpPr>
          <p:nvPr>
            <p:ph type="title"/>
          </p:nvPr>
        </p:nvSpPr>
        <p:spPr/>
        <p:txBody>
          <a:bodyPr/>
          <a:lstStyle/>
          <a:p>
            <a:r>
              <a:rPr lang="pl-PL" dirty="0"/>
              <a:t>Aplikacje</a:t>
            </a:r>
          </a:p>
        </p:txBody>
      </p:sp>
      <p:sp>
        <p:nvSpPr>
          <p:cNvPr id="3" name="Segnaposto contenuto 2">
            <a:extLst>
              <a:ext uri="{FF2B5EF4-FFF2-40B4-BE49-F238E27FC236}">
                <a16:creationId xmlns:a16="http://schemas.microsoft.com/office/drawing/2014/main" id="{8516D0F8-398D-062F-C10E-8EA7B751491B}"/>
              </a:ext>
            </a:extLst>
          </p:cNvPr>
          <p:cNvSpPr>
            <a:spLocks noGrp="1"/>
          </p:cNvSpPr>
          <p:nvPr>
            <p:ph idx="1"/>
          </p:nvPr>
        </p:nvSpPr>
        <p:spPr/>
        <p:txBody>
          <a:bodyPr/>
          <a:lstStyle/>
          <a:p>
            <a:pPr marL="36900" indent="0">
              <a:buNone/>
            </a:pPr>
            <a:r>
              <a:rPr lang="pl-PL" dirty="0"/>
              <a:t>Instytut Inżynierii Oprogramowania opublikował badanie, z którego wynika, że 60 organizacji zmierzyło wzrost wydajności w kategoriach kosztów, harmonogramu, produktywności, jakości i satysfakcji klienta. Mediana wzrostu wydajności wahała się od 14% (zadowolenie klienta) do 62% (produktywność). Jednak model CMMI dotyczy głównie tego, jakie procesy należy wdrożyć, a nie tego, jak można je wdrożyć. Wyniki te nie gwarantują, że zastosowanie CMMI zwiększy wydajność w każdej organizacji. Mała firma z niewielkimi zasobami może mieć mniejsze szanse na skorzystanie z CMMI. Spośród małych organizacji (&lt;25 pracowników) 70,5% jest ocenianych na poziomie 2: Zarządzane, podczas gdy 52,8% organizacji zatrudniających od 1001 do 2000 pracowników jest ocenianych na najwyższym poziomie (5: Optymalizacja).</a:t>
            </a:r>
          </a:p>
        </p:txBody>
      </p:sp>
    </p:spTree>
    <p:extLst>
      <p:ext uri="{BB962C8B-B14F-4D97-AF65-F5344CB8AC3E}">
        <p14:creationId xmlns:p14="http://schemas.microsoft.com/office/powerpoint/2010/main" val="3445094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5AD3BD0-89E1-2119-1994-02ECFB093863}"/>
              </a:ext>
            </a:extLst>
          </p:cNvPr>
          <p:cNvSpPr>
            <a:spLocks noGrp="1"/>
          </p:cNvSpPr>
          <p:nvPr>
            <p:ph type="title"/>
          </p:nvPr>
        </p:nvSpPr>
        <p:spPr/>
        <p:txBody>
          <a:bodyPr/>
          <a:lstStyle/>
          <a:p>
            <a:r>
              <a:rPr lang="pl-PL" dirty="0"/>
              <a:t>Źródła</a:t>
            </a:r>
          </a:p>
        </p:txBody>
      </p:sp>
      <p:sp>
        <p:nvSpPr>
          <p:cNvPr id="3" name="Segnaposto contenuto 2">
            <a:extLst>
              <a:ext uri="{FF2B5EF4-FFF2-40B4-BE49-F238E27FC236}">
                <a16:creationId xmlns:a16="http://schemas.microsoft.com/office/drawing/2014/main" id="{0AF715BF-C115-8D32-E028-53B2959B081D}"/>
              </a:ext>
            </a:extLst>
          </p:cNvPr>
          <p:cNvSpPr>
            <a:spLocks noGrp="1"/>
          </p:cNvSpPr>
          <p:nvPr>
            <p:ph idx="1"/>
          </p:nvPr>
        </p:nvSpPr>
        <p:spPr/>
        <p:txBody>
          <a:bodyPr/>
          <a:lstStyle/>
          <a:p>
            <a:pPr marL="36900" indent="0">
              <a:buNone/>
            </a:pPr>
            <a:r>
              <a:rPr lang="pl-PL" dirty="0"/>
              <a:t>https://pl.wikipedia.org/wiki/Kompleksowy_model_dojrza%C5%82o%C5%9Bci_organizacyjnej</a:t>
            </a:r>
          </a:p>
          <a:p>
            <a:pPr marL="36900" indent="0">
              <a:buNone/>
            </a:pPr>
            <a:r>
              <a:rPr lang="pl-PL" dirty="0"/>
              <a:t>https://bibliotekanauki.pl/articles/658237.pdf</a:t>
            </a:r>
          </a:p>
        </p:txBody>
      </p:sp>
    </p:spTree>
    <p:extLst>
      <p:ext uri="{BB962C8B-B14F-4D97-AF65-F5344CB8AC3E}">
        <p14:creationId xmlns:p14="http://schemas.microsoft.com/office/powerpoint/2010/main" val="19355564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rdesia">
  <a:themeElements>
    <a:clrScheme name="Ardesia">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Ardesia">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rdesia">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TM04033929[[fn=Ardesia]]</Template>
  <TotalTime>119</TotalTime>
  <Words>884</Words>
  <Application>Microsoft Office PowerPoint</Application>
  <PresentationFormat>Widescreen</PresentationFormat>
  <Paragraphs>40</Paragraphs>
  <Slides>11</Slides>
  <Notes>0</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11</vt:i4>
      </vt:variant>
    </vt:vector>
  </HeadingPairs>
  <TitlesOfParts>
    <vt:vector size="15" baseType="lpstr">
      <vt:lpstr>Arial</vt:lpstr>
      <vt:lpstr>Calisto MT</vt:lpstr>
      <vt:lpstr>Wingdings 2</vt:lpstr>
      <vt:lpstr>Ardesia</vt:lpstr>
      <vt:lpstr>Kompleksowy model dojrzałości organizacyjnej (Capability Maturity Model Integration – CMMI)</vt:lpstr>
      <vt:lpstr>Definicja</vt:lpstr>
      <vt:lpstr>Przegląd</vt:lpstr>
      <vt:lpstr>Obszary</vt:lpstr>
      <vt:lpstr>Presentazione standard di PowerPoint</vt:lpstr>
      <vt:lpstr>Tematy CMMI</vt:lpstr>
      <vt:lpstr>Tematy CMMI</vt:lpstr>
      <vt:lpstr>Presentazione standard di PowerPoint</vt:lpstr>
      <vt:lpstr>Model v2.0</vt:lpstr>
      <vt:lpstr>Aplikacje</vt:lpstr>
      <vt:lpstr>Źródła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Kompleksowy model dojrzałości organizacyjnej (Capability Maturity Model Integration – CMMI)</dc:title>
  <dc:creator>Albert Ciemerych</dc:creator>
  <cp:lastModifiedBy>Albert Ciemerych</cp:lastModifiedBy>
  <cp:revision>2</cp:revision>
  <dcterms:created xsi:type="dcterms:W3CDTF">2023-11-04T18:38:35Z</dcterms:created>
  <dcterms:modified xsi:type="dcterms:W3CDTF">2023-11-05T11:26:23Z</dcterms:modified>
</cp:coreProperties>
</file>